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A15FAA-A169-54F0-B4FC-0BBCD3624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244A307-CA9B-DBE9-CB45-72F587C35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DFBBD-4CA1-9F7F-0FA8-9D581F4F9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9C2C-B29A-4AA2-9F6B-D45200874DDC}" type="datetimeFigureOut">
              <a:rPr lang="de-AT" smtClean="0"/>
              <a:t>25.11.2025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6A5EC4-EB35-8E3E-3C9B-6B9BC0779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88BB08-FCB8-01AA-31AC-57929170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11FC-80DB-4F19-8EC9-04B3B187CE1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8121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E1576C-6E56-B5B8-10CE-EB7A8682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28830D-282D-4B17-668B-A158DDBE3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E91729-CE7D-A3AE-C3C7-F8E81CB93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9C2C-B29A-4AA2-9F6B-D45200874DDC}" type="datetimeFigureOut">
              <a:rPr lang="de-AT" smtClean="0"/>
              <a:t>25.11.2025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05F989-7B5D-F19A-F360-2A88E49F5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4AD5C5-388B-28F5-2A7E-057EE925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11FC-80DB-4F19-8EC9-04B3B187CE1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2700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DCF7D-9A66-08C6-4585-0FAA8362A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1635B9-CD3E-D349-3D62-2C3D9B24D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4BF7D5-CF66-F525-7CA1-88C30943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9C2C-B29A-4AA2-9F6B-D45200874DDC}" type="datetimeFigureOut">
              <a:rPr lang="de-AT" smtClean="0"/>
              <a:t>25.11.2025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862757-2A8B-3740-DAC6-45E14F62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75A470-410A-9BEA-16ED-EBD033BF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11FC-80DB-4F19-8EC9-04B3B187CE1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40755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899400-4D2A-B9E3-D2F9-3322B31B8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2584BC-BB2C-5B4E-C118-9C7EA2C10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04C4BE4-29D4-9018-B0B7-ED0CD96E5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21540D2-1218-9E45-6A20-131D36716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9C2C-B29A-4AA2-9F6B-D45200874DDC}" type="datetimeFigureOut">
              <a:rPr lang="de-AT" smtClean="0"/>
              <a:t>25.11.2025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28DADF-95F9-FC4E-39A2-4329F2310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202712-7E25-67DA-033F-636CBCF82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11FC-80DB-4F19-8EC9-04B3B187CE1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23281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3BA049-757B-367A-6C5D-52D044108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85FF89-2ACB-F08B-79E2-58883A72A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24DF30-ACC4-6553-9541-9B74DEE95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99AA308-01B2-448E-2C50-92D5E127F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EA778C2-D025-9BA0-4B0B-D9A9425E2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D572F4-A5BA-B752-7BB4-2145CC77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9C2C-B29A-4AA2-9F6B-D45200874DDC}" type="datetimeFigureOut">
              <a:rPr lang="de-AT" smtClean="0"/>
              <a:t>25.11.2025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4329FCB-DE71-8DE0-0979-23F44FBFA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EE9CDCB-C4DB-EF2D-886F-0BC8C0767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11FC-80DB-4F19-8EC9-04B3B187CE1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4950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973093-7F54-7CF9-8577-1F85B7C6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CF2C759-689B-29D0-A16E-D6D030212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9C2C-B29A-4AA2-9F6B-D45200874DDC}" type="datetimeFigureOut">
              <a:rPr lang="de-AT" smtClean="0"/>
              <a:t>25.11.2025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69232E-29FE-AACE-DB82-C5C9DE695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C56224-352D-2EC3-5559-9D7EE30E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11FC-80DB-4F19-8EC9-04B3B187CE1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06557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F4E6B4F-FCA5-2F73-EE88-3DD5C30A0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9C2C-B29A-4AA2-9F6B-D45200874DDC}" type="datetimeFigureOut">
              <a:rPr lang="de-AT" smtClean="0"/>
              <a:t>25.11.2025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DB9F20-68AC-DBA3-25F9-E94C1955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C79974-3546-59A9-CA81-14A28368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11FC-80DB-4F19-8EC9-04B3B187CE1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88916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A2D651-2995-AC17-56CC-0256E4BF0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E70533-0185-8B8F-F565-16919B840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B1FE0F-0E0A-7C06-25C3-B97251A5C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297574-BF91-DFBC-D4D6-FE397AB3D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9C2C-B29A-4AA2-9F6B-D45200874DDC}" type="datetimeFigureOut">
              <a:rPr lang="de-AT" smtClean="0"/>
              <a:t>25.11.2025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3C07F6-B426-CBDD-2648-C9C3EF74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689410-CD23-BA81-890D-E85D372C5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11FC-80DB-4F19-8EC9-04B3B187CE1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8954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E0FE3D-2D93-9D1B-81D3-057BE18E7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26A4A55-96ED-48FC-ECD9-6EA8AA9D1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858A696-0479-6A41-71A2-233C07195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E329FE-4353-7D26-B7A2-7C68322C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9C2C-B29A-4AA2-9F6B-D45200874DDC}" type="datetimeFigureOut">
              <a:rPr lang="de-AT" smtClean="0"/>
              <a:t>25.11.2025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7E87FB-A4A4-D29F-F5D2-7A5A10A1D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9581569-4557-C037-8BC4-A7204AC6B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11FC-80DB-4F19-8EC9-04B3B187CE1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03726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E69A67-7867-E521-62CF-09997A569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B990958-0879-22BC-932E-E8DD289F5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50A004-404C-5537-6A93-17944849D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9C2C-B29A-4AA2-9F6B-D45200874DDC}" type="datetimeFigureOut">
              <a:rPr lang="de-AT" smtClean="0"/>
              <a:t>25.11.2025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5F1844-F54A-E887-1B25-1A7C1F72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6F7259-9B44-FEB8-65AE-5E3A7C3D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11FC-80DB-4F19-8EC9-04B3B187CE1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2099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C6D7F4A-2D6A-E50C-0778-A82E4688D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4E08B8B-1103-7BDD-6B8D-D9CC88D4C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01B7AB-7394-25C9-F738-6E088113D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9C2C-B29A-4AA2-9F6B-D45200874DDC}" type="datetimeFigureOut">
              <a:rPr lang="de-AT" smtClean="0"/>
              <a:t>25.11.2025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8D29D4-9EB2-847C-A4A3-940FF3E3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983EC4-4B45-23A4-C3B8-DB7963B5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11FC-80DB-4F19-8EC9-04B3B187CE1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5755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A24AF37-6935-3C45-5A18-A225134B3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416FA2-5F99-664B-EBC5-B1E1E14C4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DC43E3-4E6C-C057-376C-EE0E37420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79C2C-B29A-4AA2-9F6B-D45200874DDC}" type="datetimeFigureOut">
              <a:rPr lang="de-AT" smtClean="0"/>
              <a:t>25.11.2025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8BE647-70A9-6816-56CF-F3BFC2713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77BDB5-8A3B-189E-B867-71E002205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111FC-80DB-4F19-8EC9-04B3B187CE1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4719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utkarsh1093/crime-data-from-2020-to-nov2025" TargetMode="Externa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6CEA7CB6-035B-EFF4-86CF-6A94B71F07B7}"/>
              </a:ext>
            </a:extLst>
          </p:cNvPr>
          <p:cNvSpPr/>
          <p:nvPr/>
        </p:nvSpPr>
        <p:spPr>
          <a:xfrm>
            <a:off x="6699250" y="-69850"/>
            <a:ext cx="2749550" cy="14859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28 Columns</a:t>
            </a:r>
            <a:endParaRPr lang="de-AT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01E1015-EA19-3896-0387-0CD3946A73C7}"/>
              </a:ext>
            </a:extLst>
          </p:cNvPr>
          <p:cNvSpPr/>
          <p:nvPr/>
        </p:nvSpPr>
        <p:spPr>
          <a:xfrm>
            <a:off x="-127000" y="-69850"/>
            <a:ext cx="6826250" cy="718185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6B683D-F9DF-17A0-32C1-8BAFF55FB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6000" b="1" dirty="0">
                <a:solidFill>
                  <a:schemeClr val="bg1"/>
                </a:solidFill>
                <a:cs typeface="Aharoni" panose="020F0502020204030204" pitchFamily="2" charset="-79"/>
              </a:rPr>
              <a:t>Crime Data </a:t>
            </a:r>
            <a:endParaRPr lang="de-AT" sz="6000" b="1" dirty="0">
              <a:solidFill>
                <a:schemeClr val="bg1"/>
              </a:solidFill>
              <a:cs typeface="Aharoni" panose="020F0502020204030204" pitchFamily="2" charset="-79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86046F-BEFE-8551-8E5E-2C626BE84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85900"/>
            <a:ext cx="5181600" cy="46910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AT" sz="1600" dirty="0">
                <a:hlinkClick r:id="rId2"/>
              </a:rPr>
              <a:t>https://www.kaggle.com/datasets/utkarsh1093/crime-data-from-2020-to-nov2025</a:t>
            </a:r>
            <a:r>
              <a:rPr lang="de-AT" sz="1600" dirty="0"/>
              <a:t> </a:t>
            </a:r>
            <a:br>
              <a:rPr lang="de-AT" dirty="0"/>
            </a:br>
            <a:br>
              <a:rPr lang="de-AT" dirty="0"/>
            </a:br>
            <a:r>
              <a:rPr lang="de-AT" dirty="0" err="1">
                <a:solidFill>
                  <a:schemeClr val="bg1"/>
                </a:solidFill>
              </a:rPr>
              <a:t>Contains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records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of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crimes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reported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to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the</a:t>
            </a:r>
            <a:r>
              <a:rPr lang="de-AT" dirty="0">
                <a:solidFill>
                  <a:schemeClr val="bg1"/>
                </a:solidFill>
              </a:rPr>
              <a:t> LAPD </a:t>
            </a:r>
            <a:r>
              <a:rPr lang="de-AT" dirty="0" err="1">
                <a:solidFill>
                  <a:schemeClr val="bg1"/>
                </a:solidFill>
              </a:rPr>
              <a:t>between</a:t>
            </a:r>
            <a:r>
              <a:rPr lang="de-AT" dirty="0">
                <a:solidFill>
                  <a:schemeClr val="bg1"/>
                </a:solidFill>
              </a:rPr>
              <a:t> 2020 </a:t>
            </a:r>
            <a:r>
              <a:rPr lang="de-AT" dirty="0" err="1">
                <a:solidFill>
                  <a:schemeClr val="bg1"/>
                </a:solidFill>
              </a:rPr>
              <a:t>to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now</a:t>
            </a:r>
            <a:r>
              <a:rPr lang="de-AT" dirty="0">
                <a:solidFill>
                  <a:schemeClr val="bg1"/>
                </a:solidFill>
              </a:rPr>
              <a:t> (November 2025)</a:t>
            </a:r>
            <a:br>
              <a:rPr lang="de-AT" dirty="0"/>
            </a:br>
            <a:br>
              <a:rPr lang="de-AT" dirty="0"/>
            </a:br>
            <a:endParaRPr lang="de-AT" dirty="0"/>
          </a:p>
          <a:p>
            <a:pPr marL="0" indent="0">
              <a:buNone/>
            </a:pPr>
            <a:br>
              <a:rPr lang="de-AT" dirty="0"/>
            </a:br>
            <a:endParaRPr lang="de-AT" dirty="0"/>
          </a:p>
          <a:p>
            <a:pPr marL="0" indent="0">
              <a:buNone/>
            </a:pPr>
            <a:r>
              <a:rPr lang="de-AT" sz="1600" dirty="0">
                <a:solidFill>
                  <a:schemeClr val="bg1">
                    <a:lumMod val="50000"/>
                  </a:schemeClr>
                </a:solidFill>
              </a:rPr>
              <a:t>Team 7:</a:t>
            </a:r>
          </a:p>
          <a:p>
            <a:pPr marL="0" indent="0">
              <a:buNone/>
            </a:pPr>
            <a:r>
              <a:rPr lang="de-AT" dirty="0">
                <a:solidFill>
                  <a:schemeClr val="bg1">
                    <a:lumMod val="50000"/>
                  </a:schemeClr>
                </a:solidFill>
              </a:rPr>
              <a:t>Vanessa Köck</a:t>
            </a:r>
          </a:p>
          <a:p>
            <a:pPr marL="0" indent="0">
              <a:buNone/>
            </a:pPr>
            <a:r>
              <a:rPr lang="de-AT" dirty="0">
                <a:solidFill>
                  <a:schemeClr val="bg1">
                    <a:lumMod val="50000"/>
                  </a:schemeClr>
                </a:solidFill>
              </a:rPr>
              <a:t>Alexander Reiter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42AAD8-4231-77C8-6FAC-F20F10BFB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64450" y="2076450"/>
            <a:ext cx="3689350" cy="41005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Column categories</a:t>
            </a:r>
          </a:p>
          <a:p>
            <a:r>
              <a:rPr lang="en-US" dirty="0"/>
              <a:t>type of crime</a:t>
            </a:r>
          </a:p>
          <a:p>
            <a:r>
              <a:rPr lang="en-US" dirty="0"/>
              <a:t>when and where it occurred</a:t>
            </a:r>
          </a:p>
          <a:p>
            <a:r>
              <a:rPr lang="en-US" dirty="0"/>
              <a:t>victim’s demographic details</a:t>
            </a:r>
          </a:p>
          <a:p>
            <a:r>
              <a:rPr lang="en-US" dirty="0"/>
              <a:t>the weapon used </a:t>
            </a:r>
          </a:p>
          <a:p>
            <a:r>
              <a:rPr lang="en-US" dirty="0"/>
              <a:t>status of the investigation</a:t>
            </a:r>
            <a:endParaRPr lang="de-AT" dirty="0"/>
          </a:p>
          <a:p>
            <a:endParaRPr lang="de-AT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F220567-BD02-A57F-6B01-683162AA4B0A}"/>
              </a:ext>
            </a:extLst>
          </p:cNvPr>
          <p:cNvSpPr/>
          <p:nvPr/>
        </p:nvSpPr>
        <p:spPr>
          <a:xfrm>
            <a:off x="9448800" y="-69850"/>
            <a:ext cx="2743200" cy="14859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~ 1 000 000 </a:t>
            </a:r>
            <a:r>
              <a:rPr lang="de-AT" dirty="0" err="1"/>
              <a:t>rows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06192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73B9A1F7-C969-41C1-4AAD-D9D84E476306}"/>
              </a:ext>
            </a:extLst>
          </p:cNvPr>
          <p:cNvSpPr/>
          <p:nvPr/>
        </p:nvSpPr>
        <p:spPr>
          <a:xfrm>
            <a:off x="6375399" y="-279400"/>
            <a:ext cx="6645277" cy="718185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9D39BA04-4C26-F1D5-CDBD-8B5DF59E4521}"/>
              </a:ext>
            </a:extLst>
          </p:cNvPr>
          <p:cNvSpPr txBox="1">
            <a:spLocks/>
          </p:cNvSpPr>
          <p:nvPr/>
        </p:nvSpPr>
        <p:spPr>
          <a:xfrm rot="5400000">
            <a:off x="8351837" y="2749552"/>
            <a:ext cx="6858002" cy="13589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1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COLUMNS</a:t>
            </a:r>
            <a:endParaRPr lang="de-AT" sz="11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496CF0B2-C780-0E4C-D460-1BB6D650F6A6}"/>
              </a:ext>
            </a:extLst>
          </p:cNvPr>
          <p:cNvSpPr txBox="1">
            <a:spLocks/>
          </p:cNvSpPr>
          <p:nvPr/>
        </p:nvSpPr>
        <p:spPr>
          <a:xfrm>
            <a:off x="839788" y="398463"/>
            <a:ext cx="5157787" cy="8239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AT" b="1" dirty="0"/>
          </a:p>
        </p:txBody>
      </p:sp>
      <p:sp>
        <p:nvSpPr>
          <p:cNvPr id="3" name="Inhaltsplatzhalter 3">
            <a:extLst>
              <a:ext uri="{FF2B5EF4-FFF2-40B4-BE49-F238E27FC236}">
                <a16:creationId xmlns:a16="http://schemas.microsoft.com/office/drawing/2014/main" id="{DC89315C-9DB9-DBF5-4C29-EC5203E67643}"/>
              </a:ext>
            </a:extLst>
          </p:cNvPr>
          <p:cNvSpPr txBox="1">
            <a:spLocks/>
          </p:cNvSpPr>
          <p:nvPr/>
        </p:nvSpPr>
        <p:spPr>
          <a:xfrm>
            <a:off x="839789" y="0"/>
            <a:ext cx="4646612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Approach on Analysis</a:t>
            </a:r>
            <a:endParaRPr lang="de-DE" dirty="0"/>
          </a:p>
          <a:p>
            <a:r>
              <a:rPr lang="de-DE" dirty="0"/>
              <a:t>Due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complexity</a:t>
            </a:r>
            <a:r>
              <a:rPr lang="de-DE" dirty="0"/>
              <a:t> and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knowledge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streest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LA Location </a:t>
            </a:r>
            <a:r>
              <a:rPr lang="de-DE" dirty="0" err="1"/>
              <a:t>data</a:t>
            </a:r>
            <a:r>
              <a:rPr lang="de-DE" dirty="0"/>
              <a:t> will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dropped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analysis</a:t>
            </a:r>
            <a:endParaRPr lang="de-DE" dirty="0"/>
          </a:p>
          <a:p>
            <a:r>
              <a:rPr lang="de-DE" dirty="0"/>
              <a:t>Analysis will </a:t>
            </a:r>
            <a:r>
              <a:rPr lang="de-DE" dirty="0" err="1"/>
              <a:t>mainly</a:t>
            </a:r>
            <a:r>
              <a:rPr lang="de-DE" dirty="0"/>
              <a:t> </a:t>
            </a:r>
            <a:r>
              <a:rPr lang="de-DE" dirty="0" err="1"/>
              <a:t>focus</a:t>
            </a:r>
            <a:r>
              <a:rPr lang="de-DE" dirty="0"/>
              <a:t> on </a:t>
            </a:r>
            <a:r>
              <a:rPr lang="de-DE" dirty="0" err="1"/>
              <a:t>victim</a:t>
            </a:r>
            <a:r>
              <a:rPr lang="de-DE" dirty="0"/>
              <a:t>, </a:t>
            </a:r>
            <a:r>
              <a:rPr lang="de-DE" dirty="0" err="1"/>
              <a:t>weapon</a:t>
            </a:r>
            <a:r>
              <a:rPr lang="de-DE" dirty="0"/>
              <a:t> and temporal </a:t>
            </a:r>
            <a:r>
              <a:rPr lang="de-DE" dirty="0" err="1"/>
              <a:t>data</a:t>
            </a:r>
            <a:endParaRPr lang="de-DE" dirty="0"/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proofes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large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handling</a:t>
            </a:r>
            <a:r>
              <a:rPr lang="de-DE" dirty="0"/>
              <a:t>, </a:t>
            </a:r>
            <a:r>
              <a:rPr lang="de-DE" dirty="0" err="1"/>
              <a:t>either</a:t>
            </a:r>
            <a:r>
              <a:rPr lang="de-DE" dirty="0"/>
              <a:t> </a:t>
            </a:r>
            <a:r>
              <a:rPr lang="de-DE" dirty="0" err="1"/>
              <a:t>certain</a:t>
            </a:r>
            <a:r>
              <a:rPr lang="de-DE" dirty="0"/>
              <a:t> </a:t>
            </a:r>
            <a:r>
              <a:rPr lang="de-DE" dirty="0" err="1"/>
              <a:t>crime</a:t>
            </a:r>
            <a:r>
              <a:rPr lang="de-DE" dirty="0"/>
              <a:t> </a:t>
            </a:r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will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dropped</a:t>
            </a:r>
            <a:endParaRPr lang="de-AT" dirty="0"/>
          </a:p>
        </p:txBody>
      </p:sp>
      <p:sp>
        <p:nvSpPr>
          <p:cNvPr id="5" name="Inhaltsplatzhalter 5">
            <a:extLst>
              <a:ext uri="{FF2B5EF4-FFF2-40B4-BE49-F238E27FC236}">
                <a16:creationId xmlns:a16="http://schemas.microsoft.com/office/drawing/2014/main" id="{D7ED60F0-F37B-4493-3EC2-4CE536E518BA}"/>
              </a:ext>
            </a:extLst>
          </p:cNvPr>
          <p:cNvSpPr txBox="1">
            <a:spLocks/>
          </p:cNvSpPr>
          <p:nvPr/>
        </p:nvSpPr>
        <p:spPr>
          <a:xfrm>
            <a:off x="6604000" y="692150"/>
            <a:ext cx="5183188" cy="5538787"/>
          </a:xfrm>
          <a:prstGeom prst="rect">
            <a:avLst/>
          </a:prstGeom>
        </p:spPr>
        <p:txBody>
          <a:bodyPr anchor="ctr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DR_NO: Unique LAPD incident number used to identify each crime report.</a:t>
            </a:r>
          </a:p>
          <a:p>
            <a:pPr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Date </a:t>
            </a:r>
            <a:r>
              <a:rPr lang="en-US" dirty="0" err="1">
                <a:solidFill>
                  <a:schemeClr val="bg1"/>
                </a:solidFill>
              </a:rPr>
              <a:t>Rptd</a:t>
            </a:r>
            <a:r>
              <a:rPr lang="en-US" dirty="0">
                <a:solidFill>
                  <a:schemeClr val="bg1"/>
                </a:solidFill>
              </a:rPr>
              <a:t>: The date the crime was reported to the police.</a:t>
            </a:r>
          </a:p>
          <a:p>
            <a:pPr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DATE OCC: The date the crime occurred.</a:t>
            </a:r>
          </a:p>
          <a:p>
            <a:pPr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TIME OCC: Time of occurrence in 24-hour format.</a:t>
            </a:r>
          </a:p>
          <a:p>
            <a:pPr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AREA: Numerical code for the LAPD geographic division where the incident occurred.</a:t>
            </a:r>
          </a:p>
          <a:p>
            <a:pPr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AREA NAME: Name of the LAPD division (for example, N Hollywood, Central, Pacific).</a:t>
            </a:r>
          </a:p>
          <a:p>
            <a:pPr>
              <a:lnSpc>
                <a:spcPts val="800"/>
              </a:lnSpc>
            </a:pPr>
            <a:r>
              <a:rPr lang="en-US" dirty="0" err="1">
                <a:solidFill>
                  <a:schemeClr val="bg1"/>
                </a:solidFill>
              </a:rPr>
              <a:t>Rpt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Dist</a:t>
            </a:r>
            <a:r>
              <a:rPr lang="en-US" dirty="0">
                <a:solidFill>
                  <a:schemeClr val="bg1"/>
                </a:solidFill>
              </a:rPr>
              <a:t> No: Reporting district number, representing a smaller neighborhood unit within an LAPD area.</a:t>
            </a:r>
          </a:p>
          <a:p>
            <a:pPr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Part 1-2: Crime classification category.</a:t>
            </a:r>
          </a:p>
          <a:p>
            <a:pPr lvl="1"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Part I includes serious crimes such as homicide, robbery, burglary, and aggravated assault.</a:t>
            </a:r>
          </a:p>
          <a:p>
            <a:pPr lvl="1"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Part II includes less severe offenses such as fraud, vandalism, and simple assault.</a:t>
            </a:r>
          </a:p>
          <a:p>
            <a:pPr>
              <a:lnSpc>
                <a:spcPts val="800"/>
              </a:lnSpc>
            </a:pPr>
            <a:r>
              <a:rPr lang="en-US" dirty="0" err="1">
                <a:solidFill>
                  <a:schemeClr val="bg1"/>
                </a:solidFill>
              </a:rPr>
              <a:t>Crm</a:t>
            </a:r>
            <a:r>
              <a:rPr lang="en-US" dirty="0">
                <a:solidFill>
                  <a:schemeClr val="bg1"/>
                </a:solidFill>
              </a:rPr>
              <a:t> Cd: Numeric code identifying the primary crime.</a:t>
            </a:r>
          </a:p>
          <a:p>
            <a:pPr>
              <a:lnSpc>
                <a:spcPts val="800"/>
              </a:lnSpc>
            </a:pPr>
            <a:r>
              <a:rPr lang="en-US" dirty="0" err="1">
                <a:solidFill>
                  <a:schemeClr val="bg1"/>
                </a:solidFill>
              </a:rPr>
              <a:t>Crm</a:t>
            </a:r>
            <a:r>
              <a:rPr lang="en-US" dirty="0">
                <a:solidFill>
                  <a:schemeClr val="bg1"/>
                </a:solidFill>
              </a:rPr>
              <a:t> Cd Desc: Description of the primary crime type (for example, Theft of Identity, Burglary, Simple Assault).</a:t>
            </a:r>
          </a:p>
          <a:p>
            <a:pPr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Vict Age: Age of the victim.</a:t>
            </a:r>
          </a:p>
          <a:p>
            <a:pPr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Vict Sex: Sex of the victim (Male, Female, Unknown).</a:t>
            </a:r>
          </a:p>
          <a:p>
            <a:pPr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Vict Descent: Victim’s descent or ethnic background (for example, Hispanic/Latin/Mexican, White, Black, Asian).</a:t>
            </a:r>
          </a:p>
          <a:p>
            <a:pPr>
              <a:lnSpc>
                <a:spcPts val="800"/>
              </a:lnSpc>
            </a:pPr>
            <a:r>
              <a:rPr lang="en-US" dirty="0" err="1">
                <a:solidFill>
                  <a:schemeClr val="bg1"/>
                </a:solidFill>
              </a:rPr>
              <a:t>Premis</a:t>
            </a:r>
            <a:r>
              <a:rPr lang="en-US" dirty="0">
                <a:solidFill>
                  <a:schemeClr val="bg1"/>
                </a:solidFill>
              </a:rPr>
              <a:t> Cd: Numeric code for the type of location where the crime occurred.</a:t>
            </a:r>
          </a:p>
          <a:p>
            <a:pPr>
              <a:lnSpc>
                <a:spcPts val="800"/>
              </a:lnSpc>
            </a:pPr>
            <a:r>
              <a:rPr lang="en-US" dirty="0" err="1">
                <a:solidFill>
                  <a:schemeClr val="bg1"/>
                </a:solidFill>
              </a:rPr>
              <a:t>Premis</a:t>
            </a:r>
            <a:r>
              <a:rPr lang="en-US" dirty="0">
                <a:solidFill>
                  <a:schemeClr val="bg1"/>
                </a:solidFill>
              </a:rPr>
              <a:t> Desc: Description of the premise or location type (for example, Sidewalk, Single Family Dwelling).</a:t>
            </a:r>
          </a:p>
          <a:p>
            <a:pPr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Weapon Used Cd: Numeric code for the weapon used, if any.</a:t>
            </a:r>
          </a:p>
          <a:p>
            <a:pPr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Weapon Desc: Description of the weapon used (for example, Knife, Handgun, Unknown).</a:t>
            </a:r>
          </a:p>
          <a:p>
            <a:pPr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Status: Case status code.</a:t>
            </a:r>
          </a:p>
          <a:p>
            <a:pPr>
              <a:lnSpc>
                <a:spcPts val="800"/>
              </a:lnSpc>
            </a:pPr>
            <a:r>
              <a:rPr lang="en-US" dirty="0">
                <a:solidFill>
                  <a:schemeClr val="bg1"/>
                </a:solidFill>
              </a:rPr>
              <a:t>Status Desc: Full description of the case status (for example, Invest </a:t>
            </a:r>
            <a:r>
              <a:rPr lang="en-US" dirty="0" err="1">
                <a:solidFill>
                  <a:schemeClr val="bg1"/>
                </a:solidFill>
              </a:rPr>
              <a:t>Cont</a:t>
            </a:r>
            <a:r>
              <a:rPr lang="en-US" dirty="0">
                <a:solidFill>
                  <a:schemeClr val="bg1"/>
                </a:solidFill>
              </a:rPr>
              <a:t>, Adult Arrest, Juvenile Arrest).</a:t>
            </a:r>
          </a:p>
          <a:p>
            <a:pPr>
              <a:lnSpc>
                <a:spcPts val="800"/>
              </a:lnSpc>
            </a:pPr>
            <a:r>
              <a:rPr lang="en-US" dirty="0" err="1">
                <a:solidFill>
                  <a:schemeClr val="bg1"/>
                </a:solidFill>
              </a:rPr>
              <a:t>occ_year</a:t>
            </a:r>
            <a:r>
              <a:rPr lang="en-US" dirty="0">
                <a:solidFill>
                  <a:schemeClr val="bg1"/>
                </a:solidFill>
              </a:rPr>
              <a:t>: Year extracted from DATE OCC.</a:t>
            </a:r>
          </a:p>
          <a:p>
            <a:pPr>
              <a:lnSpc>
                <a:spcPts val="800"/>
              </a:lnSpc>
            </a:pPr>
            <a:r>
              <a:rPr lang="en-US" dirty="0" err="1">
                <a:solidFill>
                  <a:schemeClr val="bg1"/>
                </a:solidFill>
              </a:rPr>
              <a:t>occ_month</a:t>
            </a:r>
            <a:r>
              <a:rPr lang="en-US" dirty="0">
                <a:solidFill>
                  <a:schemeClr val="bg1"/>
                </a:solidFill>
              </a:rPr>
              <a:t>: month extracted from DATE OCC.</a:t>
            </a:r>
          </a:p>
          <a:p>
            <a:pPr>
              <a:lnSpc>
                <a:spcPts val="800"/>
              </a:lnSpc>
            </a:pPr>
            <a:r>
              <a:rPr lang="en-US" dirty="0" err="1">
                <a:solidFill>
                  <a:schemeClr val="bg1"/>
                </a:solidFill>
              </a:rPr>
              <a:t>occ_date</a:t>
            </a:r>
            <a:r>
              <a:rPr lang="en-US" dirty="0">
                <a:solidFill>
                  <a:schemeClr val="bg1"/>
                </a:solidFill>
              </a:rPr>
              <a:t>: Day of the month extracted from DATE OCC.</a:t>
            </a:r>
          </a:p>
          <a:p>
            <a:pPr>
              <a:lnSpc>
                <a:spcPts val="800"/>
              </a:lnSpc>
            </a:pPr>
            <a:r>
              <a:rPr lang="en-US" dirty="0" err="1">
                <a:solidFill>
                  <a:schemeClr val="bg1"/>
                </a:solidFill>
              </a:rPr>
              <a:t>occ_day</a:t>
            </a:r>
            <a:r>
              <a:rPr lang="en-US" dirty="0">
                <a:solidFill>
                  <a:schemeClr val="bg1"/>
                </a:solidFill>
              </a:rPr>
              <a:t>: Day of the week of the occurrence date (for example, Mon, Tue, Sat).</a:t>
            </a:r>
            <a:endParaRPr lang="de-A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220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Microsoft Office PowerPoint</Application>
  <PresentationFormat>Breitbild</PresentationFormat>
  <Paragraphs>44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Aharoni</vt:lpstr>
      <vt:lpstr>Aptos</vt:lpstr>
      <vt:lpstr>Aptos Display</vt:lpstr>
      <vt:lpstr>Arial</vt:lpstr>
      <vt:lpstr>Office</vt:lpstr>
      <vt:lpstr>Crime Data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Vanessa Köck</dc:creator>
  <cp:lastModifiedBy>Vanessa Köck</cp:lastModifiedBy>
  <cp:revision>10</cp:revision>
  <dcterms:created xsi:type="dcterms:W3CDTF">2025-11-25T14:20:20Z</dcterms:created>
  <dcterms:modified xsi:type="dcterms:W3CDTF">2025-11-25T16:00:06Z</dcterms:modified>
</cp:coreProperties>
</file>